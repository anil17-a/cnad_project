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0" r:id="rId2"/>
  </p:sldMasterIdLst>
  <p:notesMasterIdLst>
    <p:notesMasterId r:id="rId17"/>
  </p:notesMasterIdLst>
  <p:sldIdLst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3F46D-633B-41D5-A604-61F212CE96C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EA21C-B240-4FE0-A8A6-F1E7DA376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12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23-09-2026 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47741"/>
              </p:ext>
            </p:extLst>
          </p:nvPr>
        </p:nvGraphicFramePr>
        <p:xfrm>
          <a:off x="8193271" y="4898509"/>
          <a:ext cx="370205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Bhargav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2420030124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 Girish    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 Anil       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46905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Ms.V.Vinisha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97548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Disaster Response &amp; Emergency Coordination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of This 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8778240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Statement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298448" y="2286000"/>
            <a:ext cx="8394192" cy="365760"/>
          </a:xfrm>
          <a:prstGeom prst="rect">
            <a:avLst/>
          </a:prstGeom>
          <a:solidFill>
            <a:srgbClr val="1F3358"/>
          </a:solidFill>
          <a:ln/>
        </p:spPr>
      </p:sp>
      <p:sp>
        <p:nvSpPr>
          <p:cNvPr id="7" name="Text 5"/>
          <p:cNvSpPr/>
          <p:nvPr/>
        </p:nvSpPr>
        <p:spPr>
          <a:xfrm>
            <a:off x="1527048" y="2286000"/>
            <a:ext cx="8028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Proposed Solution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682496" y="2743200"/>
            <a:ext cx="8010144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9" name="Text 7"/>
          <p:cNvSpPr/>
          <p:nvPr/>
        </p:nvSpPr>
        <p:spPr>
          <a:xfrm>
            <a:off x="1911096" y="2743200"/>
            <a:ext cx="7644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Objectives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066544" y="3200400"/>
            <a:ext cx="7626096" cy="365760"/>
          </a:xfrm>
          <a:prstGeom prst="rect">
            <a:avLst/>
          </a:prstGeom>
          <a:solidFill>
            <a:srgbClr val="1F3358"/>
          </a:solidFill>
          <a:ln/>
        </p:spPr>
      </p:sp>
      <p:sp>
        <p:nvSpPr>
          <p:cNvPr id="11" name="Text 9"/>
          <p:cNvSpPr/>
          <p:nvPr/>
        </p:nvSpPr>
        <p:spPr>
          <a:xfrm>
            <a:off x="2295144" y="3200400"/>
            <a:ext cx="7260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System Architecture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450592" y="3657600"/>
            <a:ext cx="7242048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3657600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Key Features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834640" y="4114800"/>
            <a:ext cx="6858000" cy="365760"/>
          </a:xfrm>
          <a:prstGeom prst="rect">
            <a:avLst/>
          </a:prstGeom>
          <a:solidFill>
            <a:srgbClr val="1F3358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41148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Technical Deep Dives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218688" y="4572000"/>
            <a:ext cx="6473952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4572000"/>
            <a:ext cx="6108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System Workflow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02736" y="5029200"/>
            <a:ext cx="6089904" cy="365760"/>
          </a:xfrm>
          <a:prstGeom prst="rect">
            <a:avLst/>
          </a:prstGeom>
          <a:solidFill>
            <a:srgbClr val="1F3358"/>
          </a:solidFill>
          <a:ln/>
        </p:spPr>
      </p:sp>
      <p:sp>
        <p:nvSpPr>
          <p:cNvPr id="19" name="Text 17"/>
          <p:cNvSpPr/>
          <p:nvPr/>
        </p:nvSpPr>
        <p:spPr>
          <a:xfrm>
            <a:off x="3831336" y="5029200"/>
            <a:ext cx="5724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Technologies Used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986784" y="5486400"/>
            <a:ext cx="5705856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4215384" y="5486400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Advantages &amp; Future Scope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disaster response is too slow, and what it costs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20624" cy="420624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18470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213055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Floods, wildfires, and quakes are often confirmed by human reports — hours after onset — instead of by continuous sensor monitoring.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420624" cy="420624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3000" y="332841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damage assessment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surveys to map affected zones can take days, delaying where responders and supplies are sent first.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420624" cy="420624"/>
          </a:xfrm>
          <a:prstGeom prst="ellipse">
            <a:avLst/>
          </a:prstGeom>
          <a:solidFill>
            <a:srgbClr val="5B72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82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480974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resource allocation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509320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supplies, medical teams, and shelters are dispatched on static plans, not real-time severity or population data.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72200" y="1920240"/>
            <a:ext cx="420624" cy="420624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66560" y="18470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communication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66560" y="213055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Agencies, volunteers, and citizens rely on disconnected channels, causing duplicated effort and missed alerts.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172200" y="3401568"/>
            <a:ext cx="420624" cy="420624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66560" y="332841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foresight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66560" y="36118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react to disasters already in progress rather than forecasting risk windows in advance.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72200" y="4882896"/>
            <a:ext cx="420624" cy="420624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882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66560" y="480974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Siloed, non-scalable tools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66560" y="509320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dashboards are built for single agencies with no shared data layer and no capacity for surge traffic.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AI pipeline that senses, predicts, assesses, and routes help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multi-source sensing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0939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imagery, IoT/seismic sensors, weather feeds, and verified social signals are ingested in real time.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329184" cy="329184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670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prediction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9352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Risk-detection and forecasting models run as first-class services — not an add-on to a static dashboard.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329184" cy="329184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5112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damage assessment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7764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models score severity from post-event imagery within minutes of availability.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329184" cy="329184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352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resource routing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617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resource-allocation engine matches relief supplies and teams to the highest-need zones first.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548640" y="5239512"/>
            <a:ext cx="329184" cy="329184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5193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elastic 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458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on Kubernetes absorb sudden surges in sensor and citizen-report traffic during a live event.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537960" y="1783080"/>
            <a:ext cx="5074920" cy="443484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9659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EVENT-TO-ACTION FLOW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2423160"/>
            <a:ext cx="4434840" cy="621792"/>
          </a:xfrm>
          <a:prstGeom prst="roundRect">
            <a:avLst>
              <a:gd name="adj" fmla="val 8824"/>
            </a:avLst>
          </a:prstGeom>
          <a:solidFill>
            <a:srgbClr val="1F3358"/>
          </a:solidFill>
          <a:ln/>
        </p:spPr>
      </p:sp>
      <p:sp>
        <p:nvSpPr>
          <p:cNvPr id="28" name="Shape 26"/>
          <p:cNvSpPr/>
          <p:nvPr/>
        </p:nvSpPr>
        <p:spPr>
          <a:xfrm>
            <a:off x="6995160" y="2542032"/>
            <a:ext cx="384048" cy="384048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0" y="24688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Feeds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98080" y="27249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Satellite, IoT, weather, social data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995160" y="2990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3172968"/>
            <a:ext cx="4434840" cy="621792"/>
          </a:xfrm>
          <a:prstGeom prst="roundRect">
            <a:avLst>
              <a:gd name="adj" fmla="val 8824"/>
            </a:avLst>
          </a:prstGeom>
          <a:solidFill>
            <a:srgbClr val="1F3358"/>
          </a:solidFill>
          <a:ln/>
        </p:spPr>
      </p:sp>
      <p:sp>
        <p:nvSpPr>
          <p:cNvPr id="34" name="Shape 32"/>
          <p:cNvSpPr/>
          <p:nvPr/>
        </p:nvSpPr>
        <p:spPr>
          <a:xfrm>
            <a:off x="6995160" y="3291840"/>
            <a:ext cx="384048" cy="384048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0" y="32186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 Layer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498080" y="3474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forecast window computed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995160" y="37398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0" y="3922776"/>
            <a:ext cx="4434840" cy="621792"/>
          </a:xfrm>
          <a:prstGeom prst="roundRect">
            <a:avLst>
              <a:gd name="adj" fmla="val 8824"/>
            </a:avLst>
          </a:prstGeom>
          <a:solidFill>
            <a:srgbClr val="1F3358"/>
          </a:solidFill>
          <a:ln/>
        </p:spPr>
      </p:sp>
      <p:sp>
        <p:nvSpPr>
          <p:cNvPr id="40" name="Shape 38"/>
          <p:cNvSpPr/>
          <p:nvPr/>
        </p:nvSpPr>
        <p:spPr>
          <a:xfrm>
            <a:off x="6995160" y="4041648"/>
            <a:ext cx="384048" cy="384048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498080" y="39684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Assessment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498080" y="4224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scores severity by zone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995160" y="44897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0" y="4672584"/>
            <a:ext cx="4434840" cy="621792"/>
          </a:xfrm>
          <a:prstGeom prst="roundRect">
            <a:avLst>
              <a:gd name="adj" fmla="val 8824"/>
            </a:avLst>
          </a:prstGeom>
          <a:solidFill>
            <a:srgbClr val="1F3358"/>
          </a:solidFill>
          <a:ln/>
        </p:spPr>
      </p:sp>
      <p:sp>
        <p:nvSpPr>
          <p:cNvPr id="46" name="Shape 44"/>
          <p:cNvSpPr/>
          <p:nvPr/>
        </p:nvSpPr>
        <p:spPr>
          <a:xfrm>
            <a:off x="6995160" y="4791456"/>
            <a:ext cx="384048" cy="384048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47" name="Text 45"/>
          <p:cNvSpPr/>
          <p:nvPr/>
        </p:nvSpPr>
        <p:spPr>
          <a:xfrm>
            <a:off x="699516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98080" y="47183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Engine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498080" y="49743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routing of teams &amp; supplies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6995160" y="52395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58000" y="5422392"/>
            <a:ext cx="4434840" cy="621792"/>
          </a:xfrm>
          <a:prstGeom prst="roundRect">
            <a:avLst>
              <a:gd name="adj" fmla="val 8824"/>
            </a:avLst>
          </a:prstGeom>
          <a:solidFill>
            <a:srgbClr val="1F3358"/>
          </a:solidFill>
          <a:ln/>
        </p:spPr>
      </p:sp>
      <p:sp>
        <p:nvSpPr>
          <p:cNvPr id="52" name="Shape 50"/>
          <p:cNvSpPr/>
          <p:nvPr/>
        </p:nvSpPr>
        <p:spPr>
          <a:xfrm>
            <a:off x="6995160" y="5541264"/>
            <a:ext cx="384048" cy="384048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53" name="Text 51"/>
          <p:cNvSpPr/>
          <p:nvPr/>
        </p:nvSpPr>
        <p:spPr>
          <a:xfrm>
            <a:off x="6995160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498080" y="54681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Response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498080" y="57241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 of relief operations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objective maps to a measurable system capability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48840"/>
            <a:ext cx="502920" cy="502920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detection-to-alert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50215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continuous sensor fusion instead of manual reporting.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4572000"/>
            <a:ext cx="219456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908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Communities are warned in minutes, not hours.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401568" y="18745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148840"/>
            <a:ext cx="502920" cy="502920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30168" y="2834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damage assessment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0168" y="350215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computer vision on satellite and drone imagery.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30168" y="4572000"/>
            <a:ext cx="219456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46908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Relief is triaged to the worst-hit zones first.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254496" y="18745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2148840"/>
            <a:ext cx="502920" cy="502920"/>
          </a:xfrm>
          <a:prstGeom prst="ellipse">
            <a:avLst/>
          </a:prstGeom>
          <a:solidFill>
            <a:srgbClr val="5B72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83096" y="2834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resource routing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83096" y="350215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matching supply, medical, and shelter capacity to real need.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83096" y="4572000"/>
            <a:ext cx="219456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3096" y="46908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Fewer wasted trips, faster coverage of demand.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107424" y="187452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63456" y="214884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8" name="Text 26"/>
          <p:cNvSpPr/>
          <p:nvPr/>
        </p:nvSpPr>
        <p:spPr>
          <a:xfrm>
            <a:off x="936345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336024" y="2834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resilient, scalable core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36024" y="350215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independently deployable microservices on Kubernetes.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36024" y="4572000"/>
            <a:ext cx="219456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36024" y="46908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The platform holds up under surge load, every time.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an API gateway, and Kubernetes-based orchestration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F335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  —  Web Dashboard (Responders/Agencies)  +  Mobile App (Citizens &amp; Field Teams)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E8600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—  routing, authentication, rate limiting, load balancing across replicas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27248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1F3358"/>
          </a:solidFill>
          <a:ln w="12700">
            <a:solidFill>
              <a:srgbClr val="3345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satellite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social feeds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98064" y="3127248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1F3358"/>
          </a:solidFill>
          <a:ln w="12700">
            <a:solidFill>
              <a:srgbClr val="3345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3200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98064" y="36576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scoring,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windows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56048" y="3127248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1F3358"/>
          </a:solidFill>
          <a:ln w="12700">
            <a:solidFill>
              <a:srgbClr val="3345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3200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56048" y="36576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severity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14032" y="3127248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1F3358"/>
          </a:solidFill>
          <a:ln w="12700">
            <a:solidFill>
              <a:srgbClr val="3345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3200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14032" y="36576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&amp;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272016" y="3127248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1F3358"/>
          </a:solidFill>
          <a:ln w="12700">
            <a:solidFill>
              <a:srgbClr val="3345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3200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72016" y="36576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notices,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routes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370832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1F335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708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—  Geo-spatial store (imagery, maps) + Time-series DB (sensor streams) + Relational DB (users, requests)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10235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C8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02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Docker  —  containerized deployment, autoscaling, health checks, rolling updates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9B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client request → gateway authenticates &amp; routes → target microservice reads/writes its own store → Prediction and Damage Assessment services read shared geo-spatial data → response returned via the gateway.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feature does, how it works, and why it matters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691640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1874520"/>
            <a:ext cx="3200400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2441448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874520"/>
            <a:ext cx="3200400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5733288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15400" y="1874520"/>
            <a:ext cx="2724912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9025128" y="18745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11091672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76856"/>
            <a:ext cx="1508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41448" y="22768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likely disaster event (flood, quake, wildfire) before full onset.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33288" y="22768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over fused sensor &amp; satellite streams.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25128" y="2276856"/>
            <a:ext cx="2542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residents and agencies critical lead time to act.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110916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962656"/>
            <a:ext cx="1508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41448" y="29626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structural damage severity per zone from post-event imagery.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33288" y="29626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image segmentation on satellite/drone photos.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25128" y="2962656"/>
            <a:ext cx="2542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triage from days of ground survey to minutes.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11091672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48456"/>
            <a:ext cx="1508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41448" y="36484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where to send supplies, medics, and shelters first.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33288" y="36484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engine over severity, population &amp; road access.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25128" y="3648456"/>
            <a:ext cx="2542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people helped per hour of response time.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110916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334256"/>
            <a:ext cx="1508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41448" y="43342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safest, fastest evacuation paths in real time.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33288" y="43342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 over live road-closure and hazard data.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25128" y="4334256"/>
            <a:ext cx="2542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casualties from routes through unsafe zones.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983480"/>
            <a:ext cx="11091672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5020056"/>
            <a:ext cx="1508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41448" y="50200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verified warnings to citizens and field teams.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33288" y="502005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Service publishes state changes to subscribed clients.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25128" y="5020056"/>
            <a:ext cx="2542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through noise with a single trusted source of truth.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Detection — Technical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Anomaly-detection service inside the AI prediction layer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01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120" y="1828800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seismic/IoT sensor readings, satellite imagery, weather station feeds, and geo-tagged verified social reports.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6791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classifier (gradient-boosted trees) for well-labeled hazards, and an unsupervised anomaly detector (autoencoder) for novel or rare events.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456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3383280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sensor statistics, rate-of-change over short windows, satellite change-detection deltas, and a regional seasonality/risk-history flag.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94360" y="425196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233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46120" y="4160520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risk score per region with an estimated time-to-impact window, returned with a confidence interval rather than a single verdict.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94360" y="50292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010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system: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46120" y="4937760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output triggers the Alert Service directly and seeds the Damage Assessment service with a pre-event baseline for later comparison.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Assessment System — Detailed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severity scoring, combined into a single index per zone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and post-event satellite/drone imagery, building footprint maps, and population density per grid cell.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LOGIC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segmentation model flags collapsed, damaged, and intact structures; results are aggregated per zone into a severity index.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above the alert threshold are automatically pushed to the Resource Service for priority routing.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Index (SI) =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α·Structural Damage % + β·Population Exposure + γ·Access Difficulty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92240" y="3520440"/>
            <a:ext cx="4754880" cy="0"/>
          </a:xfrm>
          <a:prstGeom prst="line">
            <a:avLst/>
          </a:prstGeom>
          <a:noFill/>
          <a:ln w="12700">
            <a:solidFill>
              <a:srgbClr val="3345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657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3950208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Zone: Riverside District 4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damage: 62%   •   Population exposure: 0.81   •   Access difficulty: 0.35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= 0.5(62) + 0.3(81) + 0.2(35)  =  62.3 / 100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 priority — auto-flagged for first-wave resource dispatch.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Allocation &amp; Routing — Detailed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limited relief capacity to the zones that need it most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21992"/>
            <a:ext cx="457200" cy="457200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15468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severity index, population exposure, available medical/food/shelter units, and live road-network status.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96596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221992"/>
            <a:ext cx="457200" cy="457200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2736" y="27889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logic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315468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constrained assignment problem (linear programming) maximizes coverage of high-severity zones under fleet and headcount limits.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96596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2221992"/>
            <a:ext cx="457200" cy="457200"/>
          </a:xfrm>
          <a:prstGeom prst="ellipse">
            <a:avLst/>
          </a:prstGeom>
          <a:solidFill>
            <a:srgbClr val="5B72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7889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5664" y="315468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graph-search algorithm (weighted shortest-path) recalculates safe routes as hazard and closure data update.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07424" y="196596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2221992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08592" y="27889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8592" y="315468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dispatch plan — which team goes where, with what supplies, along which route — refreshed every few minutes.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16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SCORE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3949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Priority(z) = SI(z) × PopulationExposure(z)  ÷  TravelTime(base → z)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sequence from raw signal to relief on the ground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48256" cy="2834640"/>
          </a:xfrm>
          <a:prstGeom prst="roundRect">
            <a:avLst>
              <a:gd name="adj" fmla="val 3571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Ingested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56616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6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satellite &amp; social data stream into the Ingestion Service continuously.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578608" y="33375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2048256" cy="2834640"/>
          </a:xfrm>
          <a:prstGeom prst="roundRect">
            <a:avLst>
              <a:gd name="adj" fmla="val 3571"/>
            </a:avLst>
          </a:prstGeom>
          <a:solidFill>
            <a:srgbClr val="1F335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286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07792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07792" y="356616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6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Service scores hazard likelihood and issues an early warning.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773168" y="33375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103120"/>
            <a:ext cx="2048256" cy="2834640"/>
          </a:xfrm>
          <a:prstGeom prst="roundRect">
            <a:avLst>
              <a:gd name="adj" fmla="val 3571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286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02352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Scored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356616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6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imagery is analyzed and a severity index is computed per zone.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967728" y="33375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32320" y="2103120"/>
            <a:ext cx="2048256" cy="2834640"/>
          </a:xfrm>
          <a:prstGeom prst="roundRect">
            <a:avLst>
              <a:gd name="adj" fmla="val 3571"/>
            </a:avLst>
          </a:prstGeom>
          <a:solidFill>
            <a:srgbClr val="1F335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286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96912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Routed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96912" y="356616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6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allocation engine dispatches teams &amp; supplies to top-priority zones.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9162288" y="33375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26880" y="2103120"/>
            <a:ext cx="2048256" cy="2834640"/>
          </a:xfrm>
          <a:prstGeom prst="roundRect">
            <a:avLst>
              <a:gd name="adj" fmla="val 3571"/>
            </a:avLst>
          </a:prstGeom>
          <a:solidFill>
            <a:srgbClr val="16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22860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491472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Tracked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91472" y="356616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6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status updates flow back live to responders, agencies &amp; citizens.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technology maps to a specific responsibility in the stack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880360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1920240"/>
            <a:ext cx="2788920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5148072" cy="36576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9202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CHOSEN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1091672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React Native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03320" y="2286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&amp; mobile clients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2286000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 logic across responder and citizen apps.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529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FastAPI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03320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backends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9400" y="2852928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services with fast I/O for streaming sensor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11091672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198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03320" y="34198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CV models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3419856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training for anomaly detection &amp; segmentation.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86784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03320" y="39867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29400" y="3986784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ordered ingestion of high-volume sensor &amp; alert events.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553712"/>
            <a:ext cx="11091672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537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03320" y="45537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Geo-spatial data store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9400" y="455371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spatial queries for zone, route &amp; severity lookups.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Docker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03320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scaling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9400" y="5120640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autoscaling to absorb traffic spikes during live events.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benefits, not just operational claims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F335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58568"/>
            <a:ext cx="548640" cy="548640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warning &amp; response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6791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Minutes-level detection instead of hour-long manual confirmation cycles.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F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258568"/>
            <a:ext cx="548640" cy="548640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preventable casualties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6791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evacuation routing keeps people away from newly-hazardous paths.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F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315968"/>
            <a:ext cx="548640" cy="548640"/>
          </a:xfrm>
          <a:prstGeom prst="ellipse">
            <a:avLst/>
          </a:prstGeom>
          <a:solidFill>
            <a:srgbClr val="5B729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resource use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7365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and teams reach the highest-need zones first, not the loudest request.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F335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315968"/>
            <a:ext cx="548640" cy="54864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Elastic, always-available system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47365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Kubernetes-based services scale automatically during the exact moments it matters most.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120640"/>
            <a:ext cx="3657600" cy="3657600"/>
          </a:xfrm>
          <a:prstGeom prst="ellipse">
            <a:avLst/>
          </a:prstGeom>
          <a:solidFill>
            <a:srgbClr val="1F335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that extend the current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F3358"/>
          </a:solidFill>
          <a:ln w="12700">
            <a:solidFill>
              <a:srgbClr val="3345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3100" y="2331720"/>
            <a:ext cx="640080" cy="640080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8" name="Text 6"/>
          <p:cNvSpPr/>
          <p:nvPr/>
        </p:nvSpPr>
        <p:spPr>
          <a:xfrm>
            <a:off x="19431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Drone-swarm integration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drones extend imagery coverage into zones satellites and ground teams can't reach quickly.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F3358"/>
          </a:solidFill>
          <a:ln w="12700">
            <a:solidFill>
              <a:srgbClr val="3345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92140" y="2331720"/>
            <a:ext cx="640080" cy="640080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13" name="Text 11"/>
          <p:cNvSpPr/>
          <p:nvPr/>
        </p:nvSpPr>
        <p:spPr>
          <a:xfrm>
            <a:off x="56921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2004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Multi-agency data sharing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3840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data layer lets government, NGO, and volunteer systems coordinate on one shared severity map.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F3358"/>
          </a:solidFill>
          <a:ln w="12700">
            <a:solidFill>
              <a:srgbClr val="3345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41180" y="2331720"/>
            <a:ext cx="640080" cy="640080"/>
          </a:xfrm>
          <a:prstGeom prst="ellipse">
            <a:avLst/>
          </a:prstGeom>
          <a:solidFill>
            <a:srgbClr val="E8600C"/>
          </a:solidFill>
          <a:ln/>
        </p:spPr>
      </p:sp>
      <p:sp>
        <p:nvSpPr>
          <p:cNvPr id="18" name="Text 16"/>
          <p:cNvSpPr/>
          <p:nvPr/>
        </p:nvSpPr>
        <p:spPr>
          <a:xfrm>
            <a:off x="94411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75320" y="32004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crisis-communication assistant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75320" y="3840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80" dirty="0">
                <a:solidFill>
                  <a:srgbClr val="C6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layer answers citizen questions and routes urgent reports directly into the alert pipeline.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 |  Technical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1768</Words>
  <Application>Microsoft Office PowerPoint</Application>
  <PresentationFormat>Widescreen</PresentationFormat>
  <Paragraphs>332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ANIL</cp:lastModifiedBy>
  <cp:revision>2</cp:revision>
  <dcterms:created xsi:type="dcterms:W3CDTF">2026-09-23T03:21:14Z</dcterms:created>
  <dcterms:modified xsi:type="dcterms:W3CDTF">2026-09-23T03:26:51Z</dcterms:modified>
</cp:coreProperties>
</file>